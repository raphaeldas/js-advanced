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7"/>
  </p:notesMasterIdLst>
  <p:handoutMasterIdLst>
    <p:handoutMasterId r:id="rId28"/>
  </p:handoutMasterIdLst>
  <p:sldIdLst>
    <p:sldId id="256" r:id="rId5"/>
    <p:sldId id="273" r:id="rId6"/>
    <p:sldId id="274" r:id="rId7"/>
    <p:sldId id="275" r:id="rId8"/>
    <p:sldId id="263" r:id="rId9"/>
    <p:sldId id="276" r:id="rId10"/>
    <p:sldId id="277" r:id="rId11"/>
    <p:sldId id="299" r:id="rId12"/>
    <p:sldId id="278" r:id="rId13"/>
    <p:sldId id="279" r:id="rId14"/>
    <p:sldId id="281" r:id="rId15"/>
    <p:sldId id="300" r:id="rId16"/>
    <p:sldId id="301" r:id="rId17"/>
    <p:sldId id="306" r:id="rId18"/>
    <p:sldId id="302" r:id="rId19"/>
    <p:sldId id="303" r:id="rId20"/>
    <p:sldId id="304" r:id="rId21"/>
    <p:sldId id="305" r:id="rId22"/>
    <p:sldId id="307" r:id="rId23"/>
    <p:sldId id="295" r:id="rId24"/>
    <p:sldId id="298" r:id="rId25"/>
    <p:sldId id="272" r:id="rId26"/>
  </p:sldIdLst>
  <p:sldSz cx="12192000" cy="6858000"/>
  <p:notesSz cx="6797675" cy="9926638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25EB01E9-6A61-4EDA-A65F-79D5A985319E}">
          <p14:sldIdLst>
            <p14:sldId id="256"/>
          </p14:sldIdLst>
        </p14:section>
        <p14:section name="Einführung" id="{E99AF5F5-81FD-4429-ADD9-4AAE96843E5B}">
          <p14:sldIdLst>
            <p14:sldId id="273"/>
            <p14:sldId id="274"/>
            <p14:sldId id="275"/>
            <p14:sldId id="263"/>
            <p14:sldId id="276"/>
            <p14:sldId id="277"/>
            <p14:sldId id="299"/>
            <p14:sldId id="278"/>
            <p14:sldId id="279"/>
            <p14:sldId id="281"/>
            <p14:sldId id="300"/>
            <p14:sldId id="301"/>
            <p14:sldId id="306"/>
          </p14:sldIdLst>
        </p14:section>
        <p14:section name="APIs abfragen" id="{54A0B6D3-0D83-44D2-8DFF-A3D0AB70C3CF}">
          <p14:sldIdLst>
            <p14:sldId id="302"/>
            <p14:sldId id="303"/>
            <p14:sldId id="304"/>
            <p14:sldId id="305"/>
            <p14:sldId id="307"/>
          </p14:sldIdLst>
        </p14:section>
        <p14:section name="Abschluss" id="{BDD9CAB4-1E85-4AAD-9582-8A028B42FA47}">
          <p14:sldIdLst>
            <p14:sldId id="295"/>
            <p14:sldId id="298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5AB1C69-6EDB-4FF4-983F-18BD219EF322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861" autoAdjust="0"/>
    <p:restoredTop sz="90290" autoAdjust="0"/>
  </p:normalViewPr>
  <p:slideViewPr>
    <p:cSldViewPr snapToGrid="0">
      <p:cViewPr varScale="1">
        <p:scale>
          <a:sx n="78" d="100"/>
          <a:sy n="78" d="100"/>
        </p:scale>
        <p:origin x="439" y="45"/>
      </p:cViewPr>
      <p:guideLst/>
    </p:cSldViewPr>
  </p:slideViewPr>
  <p:notesTextViewPr>
    <p:cViewPr>
      <p:scale>
        <a:sx n="104" d="100"/>
        <a:sy n="104" d="100"/>
      </p:scale>
      <p:origin x="0" y="0"/>
    </p:cViewPr>
  </p:notesTextViewPr>
  <p:notesViewPr>
    <p:cSldViewPr snapToGrid="0">
      <p:cViewPr varScale="1">
        <p:scale>
          <a:sx n="88" d="100"/>
          <a:sy n="88" d="100"/>
        </p:scale>
        <p:origin x="3822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23D672-218E-44CF-A13C-71AB61B14F4F}" type="datetimeFigureOut">
              <a:rPr lang="de-CH" smtClean="0"/>
              <a:t>19.01.2026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E10991-BCFF-4D39-9AF4-8FF9B3C6450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8806500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FA598B-8DA1-4BBA-9EA9-DC1615E9868A}" type="datetimeFigureOut">
              <a:rPr lang="de-CH" smtClean="0"/>
              <a:t>19.01.2026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3C940E-24E7-4D1A-B11D-DBBBB544974E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3895257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Hallo zusammen</a:t>
            </a:r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4954628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0699671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415356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1114760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Will mit euch praktisch die Themen erarbeiten.</a:t>
            </a:r>
          </a:p>
          <a:p>
            <a:r>
              <a:rPr lang="de-CH" dirty="0"/>
              <a:t>Etwas weniges </a:t>
            </a:r>
            <a:r>
              <a:rPr lang="de-CH" dirty="0" err="1"/>
              <a:t>theorie</a:t>
            </a:r>
            <a:r>
              <a:rPr lang="de-CH" dirty="0"/>
              <a:t> muss sein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CH" dirty="0"/>
              <a:t>Fehler sind nicht ausgeschlossen, Gebt Feedback, zu viel &lt;-&gt; zu wenig, langweilig, super spannend, zusammen überarbeiten</a:t>
            </a:r>
            <a:endParaRPr lang="LID4096" dirty="0"/>
          </a:p>
          <a:p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1624649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CC007E-1867-744D-832E-2E2E0E33B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F36001A-3549-C688-5693-BC133242EA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EB05B71-E72A-7EFE-C205-24C14E647F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4C03071-EFAD-0F33-2347-CCCADB4296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661919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1614840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12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042331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Frontend &lt;-&gt; Backend</a:t>
            </a:r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15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72344857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Erwartung zeigen: http://localhost:5500/api</a:t>
            </a:r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18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0469012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15:50</a:t>
            </a:r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20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749308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15:50</a:t>
            </a:r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21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886916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15:59</a:t>
            </a:r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22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637949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1175485"/>
            <a:ext cx="10515600" cy="1325563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838200" y="2641717"/>
            <a:ext cx="10515600" cy="3629025"/>
          </a:xfrm>
        </p:spPr>
        <p:txBody>
          <a:bodyPr/>
          <a:lstStyle>
            <a:lvl1pPr>
              <a:spcBef>
                <a:spcPts val="300"/>
              </a:spcBef>
              <a:spcAft>
                <a:spcPts val="800"/>
              </a:spcAft>
              <a:defRPr sz="3200"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lnSpc>
                <a:spcPct val="110000"/>
              </a:lnSpc>
              <a:spcAft>
                <a:spcPts val="1200"/>
              </a:spcAft>
              <a:defRPr sz="28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spcAft>
                <a:spcPts val="1200"/>
              </a:spcAft>
              <a:defRPr sz="24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spcAft>
                <a:spcPts val="1200"/>
              </a:spcAft>
              <a:defRPr sz="20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spcAft>
                <a:spcPts val="1200"/>
              </a:spcAft>
              <a:defRPr sz="20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CH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3F526-C1D0-4550-B781-F5C2F41E5AD9}" type="datetime1">
              <a:rPr lang="de-CH" smtClean="0"/>
              <a:t>19.01.2026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BEDEFE6B-CD47-48D6-8858-514CE6C5B606}" type="slidenum">
              <a:rPr lang="de-CH" smtClean="0"/>
              <a:pPr/>
              <a:t>‹Nr.›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9622907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gross-ein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298255"/>
            <a:ext cx="9138557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19.01.2026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7" name="Inhaltsplatzhalter 2"/>
          <p:cNvSpPr>
            <a:spLocks noGrp="1"/>
          </p:cNvSpPr>
          <p:nvPr>
            <p:ph idx="1"/>
          </p:nvPr>
        </p:nvSpPr>
        <p:spPr>
          <a:xfrm>
            <a:off x="838200" y="1858879"/>
            <a:ext cx="10515600" cy="4450939"/>
          </a:xfrm>
        </p:spPr>
        <p:txBody>
          <a:bodyPr/>
          <a:lstStyle>
            <a:lvl1pPr>
              <a:spcBef>
                <a:spcPts val="300"/>
              </a:spcBef>
              <a:spcAft>
                <a:spcPts val="800"/>
              </a:spcAft>
              <a:defRPr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lnSpc>
                <a:spcPct val="110000"/>
              </a:lnSpc>
              <a:defRPr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lnSpc>
                <a:spcPct val="110000"/>
              </a:lnSpc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3434726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1524000" y="1922462"/>
            <a:ext cx="9144000" cy="2387600"/>
          </a:xfrm>
        </p:spPr>
        <p:txBody>
          <a:bodyPr anchor="b">
            <a:normAutofit/>
          </a:bodyPr>
          <a:lstStyle>
            <a:lvl1pPr algn="l">
              <a:defRPr sz="7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de-DE" dirty="0"/>
              <a:t>Titel durch Klicken hinzufügen</a:t>
            </a:r>
            <a:endParaRPr lang="de-CH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1524000" y="4402137"/>
            <a:ext cx="9144000" cy="392285"/>
          </a:xfrm>
        </p:spPr>
        <p:txBody>
          <a:bodyPr>
            <a:normAutofit/>
          </a:bodyPr>
          <a:lstStyle>
            <a:lvl1pPr marL="0" indent="0" algn="l">
              <a:buNone/>
              <a:defRPr sz="2400" baseline="0">
                <a:solidFill>
                  <a:schemeClr val="bg1">
                    <a:lumMod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Untertitel durch Klicken hinzufügen</a:t>
            </a:r>
            <a:endParaRPr lang="de-CH" dirty="0"/>
          </a:p>
        </p:txBody>
      </p:sp>
      <p:sp>
        <p:nvSpPr>
          <p:cNvPr id="33" name="Textplatzhalter 32"/>
          <p:cNvSpPr>
            <a:spLocks noGrp="1"/>
          </p:cNvSpPr>
          <p:nvPr>
            <p:ph type="body" sz="quarter" idx="10" hasCustomPrompt="1"/>
          </p:nvPr>
        </p:nvSpPr>
        <p:spPr>
          <a:xfrm>
            <a:off x="1524001" y="4828832"/>
            <a:ext cx="9144000" cy="344530"/>
          </a:xfrm>
        </p:spPr>
        <p:txBody>
          <a:bodyPr/>
          <a:lstStyle>
            <a:lvl1pPr marL="0" indent="0" algn="l">
              <a:buNone/>
              <a:defRPr sz="2000">
                <a:solidFill>
                  <a:schemeClr val="bg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de-DE" dirty="0"/>
              <a:t>Anlass durch Klicken hinzufügen</a:t>
            </a:r>
          </a:p>
        </p:txBody>
      </p:sp>
      <p:sp>
        <p:nvSpPr>
          <p:cNvPr id="36" name="Textplatzhalter 35"/>
          <p:cNvSpPr>
            <a:spLocks noGrp="1"/>
          </p:cNvSpPr>
          <p:nvPr>
            <p:ph type="body" sz="quarter" idx="11" hasCustomPrompt="1"/>
          </p:nvPr>
        </p:nvSpPr>
        <p:spPr>
          <a:xfrm>
            <a:off x="1524000" y="5198116"/>
            <a:ext cx="9144000" cy="395287"/>
          </a:xfrm>
        </p:spPr>
        <p:txBody>
          <a:bodyPr/>
          <a:lstStyle>
            <a:lvl1pPr marL="0" indent="0" algn="l">
              <a:buNone/>
              <a:defRPr sz="2000" baseline="0">
                <a:solidFill>
                  <a:schemeClr val="bg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de-DE" dirty="0"/>
              <a:t>Datum durch Klicken hinzufügen</a:t>
            </a:r>
          </a:p>
        </p:txBody>
      </p:sp>
      <p:pic>
        <p:nvPicPr>
          <p:cNvPr id="8" name="Grafik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3810" y="225937"/>
            <a:ext cx="3584190" cy="1292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3588437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1175485"/>
            <a:ext cx="10515600" cy="1325563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838200" y="2641717"/>
            <a:ext cx="10515600" cy="3629025"/>
          </a:xfrm>
        </p:spPr>
        <p:txBody>
          <a:bodyPr/>
          <a:lstStyle>
            <a:lvl1pPr>
              <a:spcAft>
                <a:spcPts val="1200"/>
              </a:spcAft>
              <a:defRPr sz="3200"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spcAft>
                <a:spcPts val="1200"/>
              </a:spcAft>
              <a:defRPr sz="28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spcAft>
                <a:spcPts val="1200"/>
              </a:spcAft>
              <a:defRPr sz="24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spcAft>
                <a:spcPts val="1200"/>
              </a:spcAft>
              <a:defRPr sz="20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spcAft>
                <a:spcPts val="1200"/>
              </a:spcAft>
              <a:defRPr sz="20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3F526-C1D0-4550-B781-F5C2F41E5AD9}" type="datetime1">
              <a:rPr lang="de-CH" smtClean="0"/>
              <a:t>19.01.2026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BEDEFE6B-CD47-48D6-8858-514CE6C5B606}" type="slidenum">
              <a:rPr lang="de-CH" smtClean="0"/>
              <a:pPr/>
              <a:t>‹Nr.›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9622907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gross-ein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298255"/>
            <a:ext cx="9138557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19.01.2026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7" name="Inhaltsplatzhalter 2"/>
          <p:cNvSpPr>
            <a:spLocks noGrp="1"/>
          </p:cNvSpPr>
          <p:nvPr>
            <p:ph idx="1"/>
          </p:nvPr>
        </p:nvSpPr>
        <p:spPr>
          <a:xfrm>
            <a:off x="838200" y="1858879"/>
            <a:ext cx="10515600" cy="4450939"/>
          </a:xfrm>
        </p:spPr>
        <p:txBody>
          <a:bodyPr/>
          <a:lstStyle>
            <a:lvl1pPr>
              <a:defRPr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defRPr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3434726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-gross-zwei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673640"/>
            <a:ext cx="9138557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19.01.2026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7" name="Inhaltsplatzhalter 2"/>
          <p:cNvSpPr>
            <a:spLocks noGrp="1"/>
          </p:cNvSpPr>
          <p:nvPr>
            <p:ph idx="1"/>
          </p:nvPr>
        </p:nvSpPr>
        <p:spPr>
          <a:xfrm>
            <a:off x="838200" y="2132058"/>
            <a:ext cx="10515600" cy="4177760"/>
          </a:xfrm>
        </p:spPr>
        <p:txBody>
          <a:bodyPr/>
          <a:lstStyle>
            <a:lvl1pPr>
              <a:defRPr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defRPr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6140673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6BCF4-0E81-4303-B76F-6C3D6B7E70BE}" type="datetime1">
              <a:rPr lang="de-CH" smtClean="0"/>
              <a:t>19.01.2026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EFE6B-CD47-48D6-8858-514CE6C5B60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761650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le kle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19.01.2026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7" name="Tabellenplatzhalter 6"/>
          <p:cNvSpPr>
            <a:spLocks noGrp="1"/>
          </p:cNvSpPr>
          <p:nvPr>
            <p:ph type="tbl" sz="quarter" idx="13"/>
          </p:nvPr>
        </p:nvSpPr>
        <p:spPr>
          <a:xfrm>
            <a:off x="838200" y="2791312"/>
            <a:ext cx="10515600" cy="3429874"/>
          </a:xfrm>
        </p:spPr>
        <p:txBody>
          <a:bodyPr/>
          <a:lstStyle/>
          <a:p>
            <a:r>
              <a:rPr lang="de-DE"/>
              <a:t>Tabelle durch Klicken auf Symbol hinzufügen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8649794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le Gro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298255"/>
            <a:ext cx="9138557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19.01.2026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6" name="Tabellenplatzhalter 6"/>
          <p:cNvSpPr>
            <a:spLocks noGrp="1"/>
          </p:cNvSpPr>
          <p:nvPr>
            <p:ph type="tbl" sz="quarter" idx="13"/>
          </p:nvPr>
        </p:nvSpPr>
        <p:spPr>
          <a:xfrm>
            <a:off x="838200" y="1623818"/>
            <a:ext cx="10515600" cy="4605532"/>
          </a:xfrm>
        </p:spPr>
        <p:txBody>
          <a:bodyPr/>
          <a:lstStyle/>
          <a:p>
            <a:r>
              <a:rPr lang="de-DE"/>
              <a:t>Tabelle durch Klicken auf Symbol hinzufügen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10840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gram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298255"/>
            <a:ext cx="9138557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19.01.2026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8" name="Diagrammplatzhalter 7"/>
          <p:cNvSpPr>
            <a:spLocks noGrp="1"/>
          </p:cNvSpPr>
          <p:nvPr>
            <p:ph type="chart" sz="quarter" idx="14"/>
          </p:nvPr>
        </p:nvSpPr>
        <p:spPr>
          <a:xfrm>
            <a:off x="838200" y="1644654"/>
            <a:ext cx="10515600" cy="4576532"/>
          </a:xfrm>
        </p:spPr>
        <p:txBody>
          <a:bodyPr/>
          <a:lstStyle/>
          <a:p>
            <a:r>
              <a:rPr lang="de-DE"/>
              <a:t>Diagramm durch Klicken auf Symbol hinzufügen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7240936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-Vo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895185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 mit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91759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er ohne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454946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/>
          <p:cNvSpPr/>
          <p:nvPr userDrawn="1"/>
        </p:nvSpPr>
        <p:spPr>
          <a:xfrm>
            <a:off x="6170612" y="2835388"/>
            <a:ext cx="5159375" cy="331685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2" name="Rechteck 11"/>
          <p:cNvSpPr/>
          <p:nvPr userDrawn="1"/>
        </p:nvSpPr>
        <p:spPr>
          <a:xfrm>
            <a:off x="838200" y="2822690"/>
            <a:ext cx="5159375" cy="331685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1465943"/>
            <a:ext cx="10515600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9788" y="2823369"/>
            <a:ext cx="5157787" cy="47500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35366" y="3326603"/>
            <a:ext cx="5157787" cy="28093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70612" y="2822690"/>
            <a:ext cx="5183188" cy="475681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72200" y="3329556"/>
            <a:ext cx="5183188" cy="28099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7B2E98-33F3-4843-92CD-A9A795F13784}" type="datetime1">
              <a:rPr lang="de-CH" smtClean="0"/>
              <a:t>19.01.2026</a:t>
            </a:fld>
            <a:endParaRPr lang="de-CH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EFE6B-CD47-48D6-8858-514CE6C5B60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4077967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4E37C1A-9586-E00B-E9C3-44DE97FDF6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055" y="141432"/>
            <a:ext cx="10882745" cy="1142423"/>
          </a:xfrm>
        </p:spPr>
        <p:txBody>
          <a:bodyPr/>
          <a:lstStyle/>
          <a:p>
            <a:r>
              <a:rPr lang="de-DE" dirty="0"/>
              <a:t>Mastertitelformat bearbeiten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CD200C2-8DA4-976A-A862-817A390A2B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5AC3E87-3131-074D-A704-7E2E48525F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FEC1BDE-DF09-CC95-6B19-FDD1D3D6A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D8499C-A6CC-4B08-A018-E3879373337C}" type="datetimeFigureOut">
              <a:rPr lang="de-CH" smtClean="0"/>
              <a:t>19.01.2026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EC35B77-75BE-26A5-A562-27524DFD44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DDA8611-164A-05C9-2897-7880CD477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947631-D23E-4F68-A65A-9F8E2561024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6953398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38200" y="146574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de-DE" dirty="0"/>
              <a:t>Titelmasterformat durch Klicken bearbeiten</a:t>
            </a:r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8200" y="2896635"/>
            <a:ext cx="10515600" cy="32959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CH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A1523D7E-84BA-4532-8AC0-0461707F3C45}" type="datetime1">
              <a:rPr lang="de-CH" smtClean="0"/>
              <a:pPr/>
              <a:t>19.01.2026</a:t>
            </a:fld>
            <a:endParaRPr lang="de-CH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pic>
        <p:nvPicPr>
          <p:cNvPr id="8" name="Grafik 7"/>
          <p:cNvPicPr>
            <a:picLocks noChangeAspect="1"/>
          </p:cNvPicPr>
          <p:nvPr userDrawn="1"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91156" y="294900"/>
            <a:ext cx="1568334" cy="565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9198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2" r:id="rId2"/>
    <p:sldLayoutId id="2147483649" r:id="rId3"/>
    <p:sldLayoutId id="2147483650" r:id="rId4"/>
    <p:sldLayoutId id="2147483659" r:id="rId5"/>
    <p:sldLayoutId id="2147483660" r:id="rId6"/>
    <p:sldLayoutId id="2147483651" r:id="rId7"/>
    <p:sldLayoutId id="2147483654" r:id="rId8"/>
    <p:sldLayoutId id="2147483655" r:id="rId9"/>
    <p:sldLayoutId id="2147483656" r:id="rId10"/>
    <p:sldLayoutId id="2147483652" r:id="rId11"/>
    <p:sldLayoutId id="2147483657" r:id="rId12"/>
    <p:sldLayoutId id="2147483658" r:id="rId13"/>
    <p:sldLayoutId id="2147483653" r:id="rId14"/>
    <p:sldLayoutId id="2147483661" r:id="rId1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kern="1200">
          <a:solidFill>
            <a:schemeClr val="tx1"/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Font typeface="Arial" panose="020B0604020202020204" pitchFamily="34" charset="0"/>
        <a:buChar char="•"/>
        <a:defRPr sz="2400" kern="1200">
          <a:solidFill>
            <a:schemeClr val="bg1">
              <a:lumMod val="50000"/>
            </a:schemeClr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bg1">
              <a:lumMod val="50000"/>
            </a:schemeClr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bg1">
              <a:lumMod val="50000"/>
            </a:schemeClr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bg1">
              <a:lumMod val="50000"/>
            </a:schemeClr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eo.admin.ch/access-data/search.html" TargetMode="External"/><Relationship Id="rId2" Type="http://schemas.openxmlformats.org/officeDocument/2006/relationships/hyperlink" Target="https://docs.geo.admin.ch/get-started/overview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ocs.geo.admin.ch/access-data/identify-features.html" TargetMode="External"/><Relationship Id="rId4" Type="http://schemas.openxmlformats.org/officeDocument/2006/relationships/hyperlink" Target="https://docs.geo.admin.ch/access-data/get-point-height.html" TargetMode="Externa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CH" dirty="0"/>
              <a:t>JavaScript</a:t>
            </a:r>
            <a:br>
              <a:rPr lang="de-CH" dirty="0"/>
            </a:br>
            <a:r>
              <a:rPr lang="de-CH" dirty="0"/>
              <a:t>Fortgeschritten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de-CH" dirty="0"/>
              <a:t>EMVs WeJs4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lnSpcReduction="10000"/>
          </a:bodyPr>
          <a:lstStyle/>
          <a:p>
            <a:r>
              <a:rPr lang="de-CH" dirty="0"/>
              <a:t>Lektion 1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e-CH" dirty="0"/>
              <a:t>19.01.2026</a:t>
            </a:r>
          </a:p>
        </p:txBody>
      </p:sp>
    </p:spTree>
    <p:extLst>
      <p:ext uri="{BB962C8B-B14F-4D97-AF65-F5344CB8AC3E}">
        <p14:creationId xmlns:p14="http://schemas.microsoft.com/office/powerpoint/2010/main" val="37282679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63866FC-A433-F504-B596-7E9D82948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Einführung ins Modul</a:t>
            </a:r>
            <a:endParaRPr lang="LID4096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18F8568-2DFF-ECA6-DDA0-1036B8BD7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EFE6B-CD47-48D6-8858-514CE6C5B606}" type="slidenum">
              <a:rPr lang="de-CH" smtClean="0"/>
              <a:pPr/>
              <a:t>2</a:t>
            </a:fld>
            <a:endParaRPr lang="de-CH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85B918D7-5468-8803-A878-D5BFFE3E78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Vorstellungsrunde</a:t>
            </a:r>
          </a:p>
          <a:p>
            <a:r>
              <a:rPr lang="de-CH" dirty="0"/>
              <a:t>Was machen wir in diesem Modul?</a:t>
            </a:r>
          </a:p>
          <a:p>
            <a:r>
              <a:rPr lang="de-CH" dirty="0"/>
              <a:t>Erste Schritte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492304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A3F0E784-576E-B936-4113-6C920F0DB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Wer bin ich?</a:t>
            </a:r>
            <a:endParaRPr lang="LID4096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99987CC-D488-2496-58C7-EFB8A1245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EFE6B-CD47-48D6-8858-514CE6C5B606}" type="slidenum">
              <a:rPr lang="de-CH" smtClean="0"/>
              <a:pPr/>
              <a:t>3</a:t>
            </a:fld>
            <a:endParaRPr lang="de-CH" dirty="0"/>
          </a:p>
        </p:txBody>
      </p:sp>
      <p:pic>
        <p:nvPicPr>
          <p:cNvPr id="8" name="Inhaltsplatzhalter 7" descr="Ein Bild, das Menschliches Gesicht, Person, Kleidung, Lächeln enthält.&#10;&#10;Automatisch generierte Beschreibung">
            <a:extLst>
              <a:ext uri="{FF2B5EF4-FFF2-40B4-BE49-F238E27FC236}">
                <a16:creationId xmlns:a16="http://schemas.microsoft.com/office/drawing/2014/main" id="{3C46D5F3-BC6C-7948-85D1-5278D1CFA6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6999" y="1547813"/>
            <a:ext cx="4635851" cy="4552950"/>
          </a:xfrm>
          <a:prstGeom prst="ellipse">
            <a:avLst/>
          </a:prstGeom>
          <a:ln w="63500" cap="rnd">
            <a:noFill/>
          </a:ln>
          <a:effectLst/>
        </p:spPr>
      </p:pic>
      <p:sp>
        <p:nvSpPr>
          <p:cNvPr id="9" name="Inhaltsplatzhalter 6">
            <a:extLst>
              <a:ext uri="{FF2B5EF4-FFF2-40B4-BE49-F238E27FC236}">
                <a16:creationId xmlns:a16="http://schemas.microsoft.com/office/drawing/2014/main" id="{A5343A17-35F7-7038-2549-44A8AFBED030}"/>
              </a:ext>
            </a:extLst>
          </p:cNvPr>
          <p:cNvSpPr txBox="1">
            <a:spLocks/>
          </p:cNvSpPr>
          <p:nvPr/>
        </p:nvSpPr>
        <p:spPr>
          <a:xfrm>
            <a:off x="838200" y="1756673"/>
            <a:ext cx="10515600" cy="45531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0000"/>
              </a:lnSpc>
              <a:spcBef>
                <a:spcPts val="300"/>
              </a:spcBef>
              <a:spcAft>
                <a:spcPts val="800"/>
              </a:spcAft>
            </a:pPr>
            <a:r>
              <a:rPr lang="de-CH" dirty="0"/>
              <a:t>Raphael Andres</a:t>
            </a:r>
          </a:p>
          <a:p>
            <a:pPr>
              <a:lnSpc>
                <a:spcPct val="110000"/>
              </a:lnSpc>
              <a:spcBef>
                <a:spcPts val="300"/>
              </a:spcBef>
              <a:spcAft>
                <a:spcPts val="800"/>
              </a:spcAft>
            </a:pPr>
            <a:r>
              <a:rPr lang="de-CH" dirty="0"/>
              <a:t>Mediamatiker EFZ,</a:t>
            </a:r>
            <a:br>
              <a:rPr lang="de-CH" dirty="0"/>
            </a:br>
            <a:r>
              <a:rPr lang="de-CH" dirty="0"/>
              <a:t>Digital Ideation Studium HSLU</a:t>
            </a:r>
          </a:p>
          <a:p>
            <a:pPr>
              <a:lnSpc>
                <a:spcPct val="110000"/>
              </a:lnSpc>
              <a:spcBef>
                <a:spcPts val="300"/>
              </a:spcBef>
              <a:spcAft>
                <a:spcPts val="800"/>
              </a:spcAft>
            </a:pPr>
            <a:r>
              <a:rPr lang="de-CH" dirty="0"/>
              <a:t>Seit 5 Jahren Software</a:t>
            </a:r>
            <a:br>
              <a:rPr lang="de-CH" dirty="0"/>
            </a:br>
            <a:r>
              <a:rPr lang="de-CH" dirty="0"/>
              <a:t>Entwickler bei iart in Basel</a:t>
            </a:r>
          </a:p>
          <a:p>
            <a:pPr>
              <a:lnSpc>
                <a:spcPct val="110000"/>
              </a:lnSpc>
              <a:spcBef>
                <a:spcPts val="300"/>
              </a:spcBef>
              <a:spcAft>
                <a:spcPts val="800"/>
              </a:spcAft>
            </a:pPr>
            <a:r>
              <a:rPr lang="de-CH" dirty="0"/>
              <a:t>Seit 3 Jahren BFO Lehrperson 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879887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HTML5 – Wikipedia">
            <a:extLst>
              <a:ext uri="{FF2B5EF4-FFF2-40B4-BE49-F238E27FC236}">
                <a16:creationId xmlns:a16="http://schemas.microsoft.com/office/drawing/2014/main" id="{49500060-E232-ABFF-0AA1-10C503602A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0040" y="2010099"/>
            <a:ext cx="1937863" cy="1937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ascading Style Sheets – Wikipedia">
            <a:extLst>
              <a:ext uri="{FF2B5EF4-FFF2-40B4-BE49-F238E27FC236}">
                <a16:creationId xmlns:a16="http://schemas.microsoft.com/office/drawing/2014/main" id="{E50E6744-B868-14DE-2872-FC04D0EC2C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65749" y="2010099"/>
            <a:ext cx="1373550" cy="1937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JavaScript logo and symbol, meaning, history, PNG">
            <a:extLst>
              <a:ext uri="{FF2B5EF4-FFF2-40B4-BE49-F238E27FC236}">
                <a16:creationId xmlns:a16="http://schemas.microsoft.com/office/drawing/2014/main" id="{E5F700D4-4520-CB27-28C6-E23D6EB3A89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969" r="21475"/>
          <a:stretch/>
        </p:blipFill>
        <p:spPr bwMode="auto">
          <a:xfrm>
            <a:off x="8362504" y="1999897"/>
            <a:ext cx="1731621" cy="1948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1EB720CD-5F57-3F8A-D4D8-C6D4FE0AF2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0040" y="4596519"/>
            <a:ext cx="1937863" cy="16805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B477C384-BADE-C841-AFFA-A8C7C6C654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5812" y="4452581"/>
            <a:ext cx="1824492" cy="1824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Capacitor Logo PNG Vector (SVG) Free Download">
            <a:extLst>
              <a:ext uri="{FF2B5EF4-FFF2-40B4-BE49-F238E27FC236}">
                <a16:creationId xmlns:a16="http://schemas.microsoft.com/office/drawing/2014/main" id="{92E837AA-76E4-941D-95FC-3D142B14A0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13573" y="4596521"/>
            <a:ext cx="1680552" cy="16805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itel 4">
            <a:extLst>
              <a:ext uri="{FF2B5EF4-FFF2-40B4-BE49-F238E27FC236}">
                <a16:creationId xmlns:a16="http://schemas.microsoft.com/office/drawing/2014/main" id="{637AD08F-8861-EF13-EDFD-48C770D8E8A0}"/>
              </a:ext>
            </a:extLst>
          </p:cNvPr>
          <p:cNvSpPr txBox="1">
            <a:spLocks/>
          </p:cNvSpPr>
          <p:nvPr/>
        </p:nvSpPr>
        <p:spPr>
          <a:xfrm>
            <a:off x="838200" y="298255"/>
            <a:ext cx="9138557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GB" sz="5400" dirty="0"/>
              <a:t>Frontend | </a:t>
            </a:r>
            <a:r>
              <a:rPr lang="en-GB" sz="5400" dirty="0" err="1"/>
              <a:t>Webtechnologien</a:t>
            </a:r>
            <a:endParaRPr lang="LID4096" sz="5400" dirty="0"/>
          </a:p>
        </p:txBody>
      </p:sp>
    </p:spTree>
    <p:extLst>
      <p:ext uri="{BB962C8B-B14F-4D97-AF65-F5344CB8AC3E}">
        <p14:creationId xmlns:p14="http://schemas.microsoft.com/office/powerpoint/2010/main" val="35286158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66512A5A-B867-869E-A743-3504E8AE865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727"/>
          <a:stretch/>
        </p:blipFill>
        <p:spPr bwMode="auto">
          <a:xfrm>
            <a:off x="8230863" y="2299474"/>
            <a:ext cx="1525858" cy="15596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D68C0B98-781C-BC0C-7A06-E583A065D8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24067" y="2270692"/>
            <a:ext cx="5748537" cy="15471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Press and Media Resources - Docker">
            <a:extLst>
              <a:ext uri="{FF2B5EF4-FFF2-40B4-BE49-F238E27FC236}">
                <a16:creationId xmlns:a16="http://schemas.microsoft.com/office/drawing/2014/main" id="{4268876C-267F-2270-108B-5F563A8EC6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62436" y="4303044"/>
            <a:ext cx="6067127" cy="15596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itel 4">
            <a:extLst>
              <a:ext uri="{FF2B5EF4-FFF2-40B4-BE49-F238E27FC236}">
                <a16:creationId xmlns:a16="http://schemas.microsoft.com/office/drawing/2014/main" id="{8BA8C136-32F2-0EFB-A769-490FF18A767F}"/>
              </a:ext>
            </a:extLst>
          </p:cNvPr>
          <p:cNvSpPr txBox="1">
            <a:spLocks/>
          </p:cNvSpPr>
          <p:nvPr/>
        </p:nvSpPr>
        <p:spPr>
          <a:xfrm>
            <a:off x="838200" y="298255"/>
            <a:ext cx="9138557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GB" sz="5400" dirty="0"/>
              <a:t>Backend | Services</a:t>
            </a:r>
            <a:endParaRPr lang="LID4096" sz="5400" dirty="0"/>
          </a:p>
        </p:txBody>
      </p:sp>
    </p:spTree>
    <p:extLst>
      <p:ext uri="{BB962C8B-B14F-4D97-AF65-F5344CB8AC3E}">
        <p14:creationId xmlns:p14="http://schemas.microsoft.com/office/powerpoint/2010/main" val="18155356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58E1DD-3D05-BEF1-5EF8-4972DAC0E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Projektarbeit mit JavaScript</a:t>
            </a:r>
            <a:endParaRPr lang="LID4096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8097E9-C82A-5A3A-D08B-3E0B20FC39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Was machen wir in diesem Modul?</a:t>
            </a:r>
            <a:endParaRPr lang="LID4096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5DB6638-8057-B464-0E8D-D4191C2EE5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947631-D23E-4F68-A65A-9F8E25610249}" type="slidenum">
              <a:rPr lang="de-CH" smtClean="0"/>
              <a:t>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018258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58E1DD-3D05-BEF1-5EF8-4972DAC0E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Projektarbeit mit JavaScript</a:t>
            </a:r>
            <a:endParaRPr lang="LID4096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5DB6638-8057-B464-0E8D-D4191C2EE5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947631-D23E-4F68-A65A-9F8E25610249}" type="slidenum">
              <a:rPr lang="de-CH" smtClean="0"/>
              <a:t>7</a:t>
            </a:fld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8097E9-C82A-5A3A-D08B-3E0B20FC39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So praktisch wie möglich, so viel Theorie wie nötig</a:t>
            </a:r>
          </a:p>
          <a:p>
            <a:r>
              <a:rPr lang="de-CH" dirty="0"/>
              <a:t>Ich zeige euch </a:t>
            </a:r>
            <a:r>
              <a:rPr lang="de-CH" u="sng" dirty="0"/>
              <a:t>einen möglichen</a:t>
            </a:r>
            <a:r>
              <a:rPr lang="de-CH" dirty="0"/>
              <a:t> Lösungsansatz</a:t>
            </a:r>
            <a:br>
              <a:rPr lang="de-CH" dirty="0"/>
            </a:br>
            <a:r>
              <a:rPr lang="de-CH" dirty="0"/>
              <a:t>-&gt; nicht der einzig richtige Weg</a:t>
            </a:r>
          </a:p>
          <a:p>
            <a:pPr marL="0" indent="0">
              <a:buNone/>
            </a:pPr>
            <a:endParaRPr lang="de-CH" dirty="0"/>
          </a:p>
          <a:p>
            <a:r>
              <a:rPr lang="de-CH" dirty="0"/>
              <a:t>Einblick: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748636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B96FAC-38B2-98F9-8E20-7B904C444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051714A-0E26-E6D5-DB70-BC45D6922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Theorie-Inputs</a:t>
            </a:r>
            <a:endParaRPr lang="LID4096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F144769-756E-C3D9-789E-C033A881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947631-D23E-4F68-A65A-9F8E25610249}" type="slidenum">
              <a:rPr lang="de-CH" smtClean="0"/>
              <a:t>8</a:t>
            </a:fld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AAD4EFB-4E49-26DA-5440-CF10EC87F3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Data </a:t>
            </a:r>
            <a:r>
              <a:rPr lang="de-CH" dirty="0" err="1"/>
              <a:t>Fetching</a:t>
            </a:r>
            <a:endParaRPr lang="de-CH" dirty="0"/>
          </a:p>
          <a:p>
            <a:r>
              <a:rPr lang="de-CH" dirty="0"/>
              <a:t>Browser-APIs: Webcam, Geolocation, …</a:t>
            </a:r>
          </a:p>
          <a:p>
            <a:r>
              <a:rPr lang="de-CH" dirty="0"/>
              <a:t>Maps mit </a:t>
            </a:r>
            <a:r>
              <a:rPr lang="de-CH" dirty="0" err="1"/>
              <a:t>Leaflet</a:t>
            </a:r>
            <a:endParaRPr lang="de-CH" dirty="0"/>
          </a:p>
          <a:p>
            <a:r>
              <a:rPr lang="de-CH" dirty="0"/>
              <a:t>Integration von </a:t>
            </a:r>
            <a:r>
              <a:rPr lang="de-CH" dirty="0" err="1"/>
              <a:t>Machine</a:t>
            </a:r>
            <a:r>
              <a:rPr lang="de-CH" dirty="0"/>
              <a:t> Learning Modellen</a:t>
            </a:r>
          </a:p>
          <a:p>
            <a:endParaRPr lang="de-CH" dirty="0"/>
          </a:p>
          <a:p>
            <a:r>
              <a:rPr lang="de-CH" dirty="0"/>
              <a:t>Danach eigenständiges Projekt in Einzelarbeit</a:t>
            </a:r>
          </a:p>
          <a:p>
            <a:endParaRPr lang="de-CH" dirty="0"/>
          </a:p>
          <a:p>
            <a:endParaRPr lang="de-CH" dirty="0"/>
          </a:p>
          <a:p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024070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C59ED98A-16FB-56D1-41A8-B3FAAE671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Habt ihr Bock?</a:t>
            </a:r>
            <a:endParaRPr lang="LID4096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63EEF27-BC94-86FD-31E2-13DB72A52C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799024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C59ED98A-16FB-56D1-41A8-B3FAAE671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Bedingungen</a:t>
            </a:r>
            <a:endParaRPr lang="LID4096" dirty="0"/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F5681832-CFDE-52C3-15A6-F685923FA7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fontAlgn="ctr"/>
            <a:r>
              <a:rPr lang="de-CH" sz="3200" dirty="0"/>
              <a:t>Respekt</a:t>
            </a:r>
          </a:p>
          <a:p>
            <a:pPr fontAlgn="ctr"/>
            <a:r>
              <a:rPr lang="de-CH" sz="3200" dirty="0"/>
              <a:t>Pünktliches Erscheinen,</a:t>
            </a:r>
            <a:br>
              <a:rPr lang="de-CH" sz="3200" dirty="0"/>
            </a:br>
            <a:r>
              <a:rPr lang="de-CH" sz="3200" dirty="0"/>
              <a:t>sonst Stoff selbst nachforschen</a:t>
            </a:r>
          </a:p>
          <a:p>
            <a:pPr fontAlgn="ctr"/>
            <a:r>
              <a:rPr lang="de-CH" sz="3200" dirty="0"/>
              <a:t>Mitmachen, fragen, profitieren, nicht stören,</a:t>
            </a:r>
            <a:br>
              <a:rPr lang="de-CH" sz="3200" dirty="0"/>
            </a:br>
            <a:r>
              <a:rPr lang="de-CH" sz="3200" dirty="0"/>
              <a:t>einander zuhören</a:t>
            </a:r>
          </a:p>
          <a:p>
            <a:pPr fontAlgn="ctr"/>
            <a:r>
              <a:rPr lang="de-CH" sz="3200" dirty="0"/>
              <a:t>Einsatz von KI ok, müsst Materie aber verstehen</a:t>
            </a:r>
            <a:br>
              <a:rPr lang="de-CH" sz="3200" dirty="0"/>
            </a:br>
            <a:r>
              <a:rPr lang="de-CH" sz="3200" dirty="0"/>
              <a:t>und erklären können</a:t>
            </a:r>
          </a:p>
        </p:txBody>
      </p:sp>
    </p:spTree>
    <p:extLst>
      <p:ext uri="{BB962C8B-B14F-4D97-AF65-F5344CB8AC3E}">
        <p14:creationId xmlns:p14="http://schemas.microsoft.com/office/powerpoint/2010/main" val="19628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C59ED98A-16FB-56D1-41A8-B3FAAE671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Fragen bis hier hin?</a:t>
            </a:r>
            <a:endParaRPr lang="LID4096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63EEF27-BC94-86FD-31E2-13DB72A52C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2210955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08A249-8583-6D24-7713-22CB8C737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Vorstellung Lernende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BC40263-A23F-1C51-EECF-913D3A658D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12</a:t>
            </a:fld>
            <a:endParaRPr lang="de-CH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2161475-D55A-F20F-DE46-577DF37171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R="0"/>
            <a:r>
              <a:rPr lang="de-CH" sz="3200" dirty="0"/>
              <a:t>Name, Fokus (</a:t>
            </a:r>
            <a:r>
              <a:rPr lang="de-CH" sz="3200" dirty="0" err="1"/>
              <a:t>Appl</a:t>
            </a:r>
            <a:r>
              <a:rPr lang="de-CH" sz="3200" dirty="0"/>
              <a:t> o. Platt.), Erwartungen ans Modul</a:t>
            </a:r>
          </a:p>
          <a:p>
            <a:pPr marR="0"/>
            <a:r>
              <a:rPr lang="de-CH" sz="3200" dirty="0"/>
              <a:t>Was für Erfahrungen hast du in folgenden Bereichen?</a:t>
            </a:r>
          </a:p>
          <a:p>
            <a:pPr lvl="1">
              <a:tabLst>
                <a:tab pos="4664075" algn="l"/>
              </a:tabLst>
            </a:pPr>
            <a:r>
              <a:rPr lang="de-CH" sz="2800" dirty="0"/>
              <a:t>Webtechnologien generell		JSON-Objekte</a:t>
            </a:r>
          </a:p>
          <a:p>
            <a:pPr lvl="1">
              <a:tabLst>
                <a:tab pos="4664075" algn="l"/>
              </a:tabLst>
            </a:pPr>
            <a:r>
              <a:rPr lang="de-CH" sz="2800" dirty="0"/>
              <a:t>JavaScript			HTTP </a:t>
            </a:r>
            <a:r>
              <a:rPr lang="de-CH" sz="2800" dirty="0" err="1"/>
              <a:t>Requests</a:t>
            </a:r>
            <a:endParaRPr lang="de-CH" sz="2800" dirty="0"/>
          </a:p>
          <a:p>
            <a:pPr lvl="1">
              <a:tabLst>
                <a:tab pos="4664075" algn="l"/>
              </a:tabLst>
            </a:pPr>
            <a:r>
              <a:rPr lang="de-CH" sz="2800" dirty="0"/>
              <a:t>APIs bereitstellen | abfragen</a:t>
            </a:r>
          </a:p>
        </p:txBody>
      </p:sp>
    </p:spTree>
    <p:extLst>
      <p:ext uri="{BB962C8B-B14F-4D97-AF65-F5344CB8AC3E}">
        <p14:creationId xmlns:p14="http://schemas.microsoft.com/office/powerpoint/2010/main" val="31113498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9EAC82-7459-88FD-279A-0BBAEEBF1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Let’s</a:t>
            </a:r>
            <a:r>
              <a:rPr lang="de-CH" dirty="0"/>
              <a:t> </a:t>
            </a:r>
            <a:r>
              <a:rPr lang="de-CH" dirty="0" err="1"/>
              <a:t>go</a:t>
            </a:r>
            <a:r>
              <a:rPr lang="de-CH" dirty="0"/>
              <a:t>!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1D99E69-E0F9-8F9F-9624-BEB4B9BD7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13</a:t>
            </a:fld>
            <a:endParaRPr lang="de-CH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FB4361B-DBF5-F099-10E1-A15DDC6BFB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Ich verwende VS Code</a:t>
            </a:r>
          </a:p>
          <a:p>
            <a:r>
              <a:rPr lang="de-CH" dirty="0"/>
              <a:t>Chromium-</a:t>
            </a:r>
            <a:r>
              <a:rPr lang="de-CH" dirty="0" err="1"/>
              <a:t>based</a:t>
            </a:r>
            <a:r>
              <a:rPr lang="de-CH" dirty="0"/>
              <a:t> Browser</a:t>
            </a:r>
          </a:p>
          <a:p>
            <a:endParaRPr lang="de-CH" dirty="0"/>
          </a:p>
          <a:p>
            <a:r>
              <a:rPr lang="de-CH" dirty="0"/>
              <a:t>Git Repository erstellen</a:t>
            </a:r>
          </a:p>
          <a:p>
            <a:r>
              <a:rPr lang="de-CH" dirty="0"/>
              <a:t>Bei VS Code GitHub-Account verknüpfen</a:t>
            </a:r>
          </a:p>
          <a:p>
            <a:pPr marL="0" indent="0">
              <a:buNone/>
              <a:tabLst>
                <a:tab pos="266700" algn="l"/>
              </a:tabLst>
            </a:pPr>
            <a:r>
              <a:rPr lang="de-CH" dirty="0"/>
              <a:t>	(zum </a:t>
            </a:r>
            <a:r>
              <a:rPr lang="de-CH" dirty="0" err="1"/>
              <a:t>Syncen</a:t>
            </a:r>
            <a:r>
              <a:rPr lang="de-CH" dirty="0"/>
              <a:t> von Settings)</a:t>
            </a:r>
            <a:endParaRPr lang="LID4096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99776E9E-1961-49CE-7CAA-4B55AFAD15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32460" y="3739487"/>
            <a:ext cx="1827032" cy="1827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6B20FB4-C263-3810-A729-E46350BC68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32461" y="1450681"/>
            <a:ext cx="1827032" cy="1827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105786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784B6A-B52B-8614-D354-145CEBC48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96E10FC-63D2-3D0B-7EFB-6C0138E59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VS Code </a:t>
            </a:r>
            <a:r>
              <a:rPr lang="de-CH" dirty="0" err="1"/>
              <a:t>Extensions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20A18E3-9018-83BE-3EF2-C44A91F16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14</a:t>
            </a:fld>
            <a:endParaRPr lang="de-CH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88875C4-FCF5-0FF7-7A3D-A81CBF859B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Live Server (</a:t>
            </a:r>
            <a:r>
              <a:rPr lang="de-CH" dirty="0" err="1"/>
              <a:t>Ritwick</a:t>
            </a:r>
            <a:r>
              <a:rPr lang="de-CH" dirty="0"/>
              <a:t> Dey)</a:t>
            </a:r>
          </a:p>
        </p:txBody>
      </p:sp>
    </p:spTree>
    <p:extLst>
      <p:ext uri="{BB962C8B-B14F-4D97-AF65-F5344CB8AC3E}">
        <p14:creationId xmlns:p14="http://schemas.microsoft.com/office/powerpoint/2010/main" val="32162969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90A982F-70EC-F241-47F2-BEFA574432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Daten abfragen in JS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A1BB448-1666-35C1-F8D7-24AEC3696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15</a:t>
            </a:fld>
            <a:endParaRPr lang="de-CH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EAC384E-E348-E4CC-5CC9-B7401CAEB0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500048"/>
            <a:ext cx="10515600" cy="809770"/>
          </a:xfrm>
        </p:spPr>
        <p:txBody>
          <a:bodyPr/>
          <a:lstStyle/>
          <a:p>
            <a:r>
              <a:rPr lang="de-CH" dirty="0" err="1"/>
              <a:t>XMLHttpRequest</a:t>
            </a:r>
            <a:endParaRPr lang="LID4096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43A12309-C1D6-0DC8-B41C-8C608C7705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1007" y="2019304"/>
            <a:ext cx="7315129" cy="3078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74465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84DAB-7C6A-58D1-85D2-BBA83E0A6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392BEBDB-AB5E-69EC-B6C3-11819F781C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65387" y="1416843"/>
            <a:ext cx="9326613" cy="5485138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8C461D0-DBBF-C465-2FA7-974B835AA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Daten abfragen in JS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23660E4-5408-EB84-CE88-B103D49CA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16</a:t>
            </a:fld>
            <a:endParaRPr lang="de-CH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B7B5AE9-8F05-66B3-F9AB-CEA46E81D3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 err="1"/>
              <a:t>Fetch</a:t>
            </a:r>
            <a:r>
              <a:rPr lang="de-CH" dirty="0"/>
              <a:t> API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6774619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8ADDE4-4E9F-1438-DB6B-C7623A161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GeoAdmin</a:t>
            </a:r>
            <a:r>
              <a:rPr lang="de-CH" dirty="0"/>
              <a:t> API als Beispiel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6CC9BD6-34B5-96CE-738C-E01E538BE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17</a:t>
            </a:fld>
            <a:endParaRPr lang="de-CH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18A1E2E-CD5D-C228-97F3-DC9B695777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>
                <a:hlinkClick r:id="rId2"/>
              </a:rPr>
              <a:t>https://docs.geo.admin.ch/get-started/overview.html</a:t>
            </a:r>
            <a:endParaRPr lang="de-CH" dirty="0"/>
          </a:p>
          <a:p>
            <a:endParaRPr lang="de-CH" dirty="0"/>
          </a:p>
          <a:p>
            <a:r>
              <a:rPr lang="de-CH" dirty="0"/>
              <a:t>Interessante Services:</a:t>
            </a:r>
          </a:p>
          <a:p>
            <a:pPr lvl="1"/>
            <a:r>
              <a:rPr lang="de-CH" dirty="0">
                <a:hlinkClick r:id="rId3"/>
              </a:rPr>
              <a:t>Search</a:t>
            </a:r>
            <a:endParaRPr lang="de-CH" dirty="0"/>
          </a:p>
          <a:p>
            <a:pPr lvl="1"/>
            <a:r>
              <a:rPr lang="de-CH" dirty="0">
                <a:hlinkClick r:id="rId4"/>
              </a:rPr>
              <a:t>Height</a:t>
            </a:r>
            <a:endParaRPr lang="de-CH" dirty="0"/>
          </a:p>
          <a:p>
            <a:pPr lvl="1"/>
            <a:r>
              <a:rPr lang="de-CH" dirty="0">
                <a:hlinkClick r:id="rId5"/>
              </a:rPr>
              <a:t>Features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4204120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33304-B41E-C1BB-3087-85F51FB22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9AE877-B4E3-41B8-9244-36C7E319C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Aufgabe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8B0413A-97D1-F564-F689-44CD818B23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18</a:t>
            </a:fld>
            <a:endParaRPr lang="de-CH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7EC08C0-D094-29D8-1A20-35862233FD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Füge 2 weitere API-Abfragen hinzu</a:t>
            </a:r>
          </a:p>
          <a:p>
            <a:r>
              <a:rPr lang="de-CH" dirty="0"/>
              <a:t>Bonus: Dynamische Abfrage über Input-Feld</a:t>
            </a:r>
          </a:p>
          <a:p>
            <a:r>
              <a:rPr lang="de-CH" dirty="0"/>
              <a:t>Bonus </a:t>
            </a:r>
            <a:r>
              <a:rPr lang="de-CH" dirty="0" err="1"/>
              <a:t>Bonus</a:t>
            </a:r>
            <a:r>
              <a:rPr lang="de-CH" dirty="0"/>
              <a:t>: weitere Parameter auswählbar machen</a:t>
            </a:r>
          </a:p>
        </p:txBody>
      </p:sp>
    </p:spTree>
    <p:extLst>
      <p:ext uri="{BB962C8B-B14F-4D97-AF65-F5344CB8AC3E}">
        <p14:creationId xmlns:p14="http://schemas.microsoft.com/office/powerpoint/2010/main" val="36199277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8F2DFD-83CF-B8EC-E04E-F95C59C8E1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Aufgabe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99BA8AF-2394-89BB-9C4E-F8602F5CE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19</a:t>
            </a:fld>
            <a:endParaRPr lang="de-CH" dirty="0"/>
          </a:p>
        </p:txBody>
      </p:sp>
      <p:pic>
        <p:nvPicPr>
          <p:cNvPr id="6" name="Inhaltsplatzhalter 5">
            <a:extLst>
              <a:ext uri="{FF2B5EF4-FFF2-40B4-BE49-F238E27FC236}">
                <a16:creationId xmlns:a16="http://schemas.microsoft.com/office/drawing/2014/main" id="{31664FA1-9FAE-A908-8B33-F2E50FAA0B1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79366"/>
            <a:ext cx="10515600" cy="4210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57939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454B8E-2325-A7D7-2AC9-6809A9097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Ausblick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0E9A9BC-671F-045C-2E69-81D87F03A5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20</a:t>
            </a:fld>
            <a:endParaRPr lang="de-CH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773142B-56F2-E851-90A7-FA21492D87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Webcam und andere Features abfragen (Laptop mitnehmen!)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9366361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454B8E-2325-A7D7-2AC9-6809A9097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Aufräumen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0E9A9BC-671F-045C-2E69-81D87F03A5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21</a:t>
            </a:fld>
            <a:endParaRPr lang="de-CH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773142B-56F2-E851-90A7-FA21492D87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3407794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47CCA5-6703-4BA0-6EF7-4489A4881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Danke für die Teilnahme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98D8B2B-7C8C-C004-6F91-CEC37A977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22</a:t>
            </a:fld>
            <a:endParaRPr lang="de-CH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339B304-5970-36B2-631B-BBCDDA6161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Schönen Abend!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6670392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1" id="{9AC2234F-DF7A-4081-BED1-1053B5B0BD96}" vid="{15C4B576-1271-49EA-B783-F07F3A36BB6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CD6A808F5B18B4EAF5BA513ACEC1F15" ma:contentTypeVersion="14" ma:contentTypeDescription="Crée un document." ma:contentTypeScope="" ma:versionID="90cadc050c97ef17732eccf05f282cbe">
  <xsd:schema xmlns:xsd="http://www.w3.org/2001/XMLSchema" xmlns:xs="http://www.w3.org/2001/XMLSchema" xmlns:p="http://schemas.microsoft.com/office/2006/metadata/properties" xmlns:ns2="1dbf6c8a-8f63-44bb-83c7-9ba9b5d4efe9" xmlns:ns3="06172d57-5d51-4d29-806c-4b74cd929571" targetNamespace="http://schemas.microsoft.com/office/2006/metadata/properties" ma:root="true" ma:fieldsID="4f5492ae7e1fa14b86c16250e6d1a161" ns2:_="" ns3:_="">
    <xsd:import namespace="1dbf6c8a-8f63-44bb-83c7-9ba9b5d4efe9"/>
    <xsd:import namespace="06172d57-5d51-4d29-806c-4b74cd92957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LengthInSeconds" minOccurs="0"/>
                <xsd:element ref="ns2:MediaServiceDateTaken" minOccurs="0"/>
                <xsd:element ref="ns2:MediaServiceLocation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dbf6c8a-8f63-44bb-83c7-9ba9b5d4efe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12" nillable="true" ma:displayName="MediaServiceDateTaken" ma:description="" ma:hidden="true" ma:indexed="true" ma:internalName="MediaServiceDateTaken" ma:readOnly="true">
      <xsd:simpleType>
        <xsd:restriction base="dms:Text"/>
      </xsd:simpleType>
    </xsd:element>
    <xsd:element name="MediaServiceLocation" ma:index="13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Balises d’images" ma:readOnly="false" ma:fieldId="{5cf76f15-5ced-4ddc-b409-7134ff3c332f}" ma:taxonomyMulti="true" ma:sspId="2d6bbf82-059b-4f28-9a20-fb972382e10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172d57-5d51-4d29-806c-4b74cd929571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83a3d301-c4de-4108-9014-f47ae7564939}" ma:internalName="TaxCatchAll" ma:showField="CatchAllData" ma:web="06172d57-5d51-4d29-806c-4b74cd92957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0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1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LengthInSeconds xmlns="1dbf6c8a-8f63-44bb-83c7-9ba9b5d4efe9" xsi:nil="true"/>
    <lcf76f155ced4ddcb4097134ff3c332f xmlns="1dbf6c8a-8f63-44bb-83c7-9ba9b5d4efe9">
      <Terms xmlns="http://schemas.microsoft.com/office/infopath/2007/PartnerControls"/>
    </lcf76f155ced4ddcb4097134ff3c332f>
    <TaxCatchAll xmlns="06172d57-5d51-4d29-806c-4b74cd929571" xsi:nil="true"/>
  </documentManagement>
</p:properties>
</file>

<file path=customXml/itemProps1.xml><?xml version="1.0" encoding="utf-8"?>
<ds:datastoreItem xmlns:ds="http://schemas.openxmlformats.org/officeDocument/2006/customXml" ds:itemID="{1AE3F8FF-813C-4132-BE80-C573B634B91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DE9BA2F-C062-493E-910C-72A955AF13B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dbf6c8a-8f63-44bb-83c7-9ba9b5d4efe9"/>
    <ds:schemaRef ds:uri="06172d57-5d51-4d29-806c-4b74cd92957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75C5BEF-A826-4D32-BB75-8169F3E7AF17}">
  <ds:schemaRefs>
    <ds:schemaRef ds:uri="http://schemas.microsoft.com/office/2006/metadata/properties"/>
    <ds:schemaRef ds:uri="http://schemas.microsoft.com/office/infopath/2007/PartnerControls"/>
    <ds:schemaRef ds:uri="1dbf6c8a-8f63-44bb-83c7-9ba9b5d4efe9"/>
    <ds:schemaRef ds:uri="06172d57-5d51-4d29-806c-4b74cd929571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Präsentation</Template>
  <TotalTime>33435</TotalTime>
  <Words>387</Words>
  <Application>Microsoft Office PowerPoint</Application>
  <PresentationFormat>Breitbild</PresentationFormat>
  <Paragraphs>111</Paragraphs>
  <Slides>22</Slides>
  <Notes>13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22</vt:i4>
      </vt:variant>
    </vt:vector>
  </HeadingPairs>
  <TitlesOfParts>
    <vt:vector size="27" baseType="lpstr">
      <vt:lpstr>Arial</vt:lpstr>
      <vt:lpstr>Calibri</vt:lpstr>
      <vt:lpstr>Open Sans</vt:lpstr>
      <vt:lpstr>Open Sans Light</vt:lpstr>
      <vt:lpstr>Office</vt:lpstr>
      <vt:lpstr>JavaScript Fortgeschritten</vt:lpstr>
      <vt:lpstr>Einführung ins Modul</vt:lpstr>
      <vt:lpstr>Wer bin ich?</vt:lpstr>
      <vt:lpstr>PowerPoint-Präsentation</vt:lpstr>
      <vt:lpstr>PowerPoint-Präsentation</vt:lpstr>
      <vt:lpstr>Projektarbeit mit JavaScript</vt:lpstr>
      <vt:lpstr>Projektarbeit mit JavaScript</vt:lpstr>
      <vt:lpstr>Theorie-Inputs</vt:lpstr>
      <vt:lpstr>Habt ihr Bock?</vt:lpstr>
      <vt:lpstr>Bedingungen</vt:lpstr>
      <vt:lpstr>Fragen bis hier hin?</vt:lpstr>
      <vt:lpstr>Vorstellung Lernende</vt:lpstr>
      <vt:lpstr>Let’s go!</vt:lpstr>
      <vt:lpstr>VS Code Extensions</vt:lpstr>
      <vt:lpstr>Daten abfragen in JS</vt:lpstr>
      <vt:lpstr>Daten abfragen in JS</vt:lpstr>
      <vt:lpstr>GeoAdmin API als Beispiel</vt:lpstr>
      <vt:lpstr>Aufgabe</vt:lpstr>
      <vt:lpstr>Aufgabe</vt:lpstr>
      <vt:lpstr>Ausblick</vt:lpstr>
      <vt:lpstr>Aufräumen</vt:lpstr>
      <vt:lpstr>Danke für die Teilnahme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Raphael Andres</dc:creator>
  <cp:lastModifiedBy>Raphael Andres</cp:lastModifiedBy>
  <cp:revision>104</cp:revision>
  <cp:lastPrinted>2017-06-27T06:37:46Z</cp:lastPrinted>
  <dcterms:created xsi:type="dcterms:W3CDTF">2024-07-15T14:16:58Z</dcterms:created>
  <dcterms:modified xsi:type="dcterms:W3CDTF">2026-01-19T15:10:36Z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0x0101001CD6A808F5B18B4EAF5BA513ACEC1F15</vt:lpwstr>
  </property>
  <property fmtid="{D5CDD505-2E9C-101B-9397-08002B2CF9AE}" pid="3" name="Order">
    <vt:r8>400</vt:r8>
  </property>
  <property fmtid="{D5CDD505-2E9C-101B-9397-08002B2CF9AE}" pid="4" name="_ExtendedDescription">
    <vt:lpwstr/>
  </property>
  <property fmtid="{D5CDD505-2E9C-101B-9397-08002B2CF9AE}" pid="5" name="TriggerFlowInfo">
    <vt:lpwstr/>
  </property>
  <property fmtid="{D5CDD505-2E9C-101B-9397-08002B2CF9AE}" pid="6" name="_SourceUrl">
    <vt:lpwstr/>
  </property>
  <property fmtid="{D5CDD505-2E9C-101B-9397-08002B2CF9AE}" pid="7" name="_SharedFileIndex">
    <vt:lpwstr/>
  </property>
  <property fmtid="{D5CDD505-2E9C-101B-9397-08002B2CF9AE}" pid="8" name="ComplianceAssetId">
    <vt:lpwstr/>
  </property>
</Properties>
</file>